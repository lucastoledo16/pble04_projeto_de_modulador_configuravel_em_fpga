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  <p:sldId id="266" r:id="rId14"/>
    <p:sldId id="268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mover o slide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2000" b="0" strike="noStrike" spc="-1">
                <a:latin typeface="Arial"/>
              </a:rPr>
              <a:t>Clique para editar o formato de notas</a:t>
            </a:r>
          </a:p>
        </p:txBody>
      </p:sp>
      <p:sp>
        <p:nvSpPr>
          <p:cNvPr id="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1400" b="0" strike="noStrike" spc="-1">
                <a:latin typeface="Times New Roman"/>
              </a:rPr>
              <a:t>&lt;cabeçalho&gt;</a:t>
            </a:r>
          </a:p>
        </p:txBody>
      </p:sp>
      <p:sp>
        <p:nvSpPr>
          <p:cNvPr id="79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80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81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A1A097E0-FD28-4112-A9F2-829475902536}" type="slidenum">
              <a:rPr lang="pt-BR" sz="1400" b="0" strike="noStrike" spc="-1">
                <a:latin typeface="Times New Roman"/>
              </a:rPr>
              <a:t>‹nº›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2BA89C77-03F9-464D-99A7-E0C27FC2CE8C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131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306A4D40-FC88-4F1D-A244-0401EC7DBF7A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134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FB6A6051-AD2E-48AC-B4FD-B3B07C9CA139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137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BA3361BD-BD09-4D42-A0ED-E8F3773A393E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140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60123E98-8ADA-43EA-8BD0-06B70736036A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143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FE6BEF6F-C091-4543-871C-FDFE8FF02B05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146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3CCD7194-7A33-4A3C-8A8C-DE019D7DB70A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149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9D9B425E-0881-4B19-8326-65D418D22BF0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146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3CCD7194-7A33-4A3C-8A8C-DE019D7DB70A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10</a:t>
            </a:fld>
            <a:endParaRPr lang="pt-BR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6889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152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326D02EE-3B8B-427A-A7EB-5F6C8802FAF7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DDAD1A63-9B04-4C05-B86B-A8B8417C2C89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DDAD1A63-9B04-4C05-B86B-A8B8417C2C89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13</a:t>
            </a:fld>
            <a:endParaRPr lang="pt-BR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8720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685800" y="1628640"/>
            <a:ext cx="7770960" cy="1468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Rádio Definido por Software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1371600" y="3213000"/>
            <a:ext cx="6399360" cy="175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lang="pt-BR" sz="3200" b="0" strike="noStrike" spc="-1">
                <a:solidFill>
                  <a:srgbClr val="8B8B8B"/>
                </a:solidFill>
                <a:latin typeface="Calibri"/>
                <a:ea typeface="DejaVu Sans"/>
              </a:rPr>
              <a:t>Mateus A. F. C. Junqueira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0" y="0"/>
            <a:ext cx="9142560" cy="4557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" name="CustomShape 4"/>
          <p:cNvSpPr/>
          <p:nvPr/>
        </p:nvSpPr>
        <p:spPr>
          <a:xfrm>
            <a:off x="0" y="743040"/>
            <a:ext cx="9142560" cy="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" name="CustomShape 5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7A54B8C1-2FA9-427C-8ACC-39687495B155}" type="slidenum">
              <a:rPr lang="pt-BR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</a:t>
            </a:fld>
            <a:endParaRPr lang="pt-BR" sz="1200" b="0" strike="noStrike" spc="-1">
              <a:latin typeface="Arial"/>
            </a:endParaRPr>
          </a:p>
        </p:txBody>
      </p:sp>
      <p:sp>
        <p:nvSpPr>
          <p:cNvPr id="87" name="CustomShape 6"/>
          <p:cNvSpPr/>
          <p:nvPr/>
        </p:nvSpPr>
        <p:spPr>
          <a:xfrm>
            <a:off x="3348000" y="5147280"/>
            <a:ext cx="3310920" cy="63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mateusafcj@gmail.com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</p:txBody>
      </p:sp>
      <p:sp>
        <p:nvSpPr>
          <p:cNvPr id="88" name="CustomShape 7"/>
          <p:cNvSpPr/>
          <p:nvPr/>
        </p:nvSpPr>
        <p:spPr>
          <a:xfrm>
            <a:off x="2088000" y="4680000"/>
            <a:ext cx="5327280" cy="60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pt-BR" sz="1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347400" y="274680"/>
            <a:ext cx="839952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3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Rádio Definido por Software</a:t>
            </a:r>
            <a:endParaRPr lang="pt-BR" sz="3800" b="0" strike="noStrike" spc="-1">
              <a:latin typeface="Arial"/>
            </a:endParaRPr>
          </a:p>
        </p:txBody>
      </p:sp>
      <p:sp>
        <p:nvSpPr>
          <p:cNvPr id="90" name="CustomShape 2"/>
          <p:cNvSpPr/>
          <p:nvPr/>
        </p:nvSpPr>
        <p:spPr>
          <a:xfrm>
            <a:off x="285840" y="1845000"/>
            <a:ext cx="8571240" cy="4447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>
                <a:solidFill>
                  <a:srgbClr val="000000"/>
                </a:solidFill>
                <a:latin typeface="Calibri"/>
                <a:ea typeface="DejaVu Sans"/>
              </a:rPr>
              <a:t>Rádio Definido por Software (SDR - Software Defined Radio) é um sistema de comunicação cujos componentes geralmente implementados em hardware como moduladores e demoduladores são implementadas em software, utilizando processamento de sinais:</a:t>
            </a: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</p:txBody>
      </p:sp>
      <p:sp>
        <p:nvSpPr>
          <p:cNvPr id="91" name="CustomShape 3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FEC9341-11B9-491A-852C-62EE37CE1F6E}" type="slidenum">
              <a:rPr lang="pt-BR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2</a:t>
            </a:fld>
            <a:endParaRPr lang="pt-BR" sz="1200" b="0" strike="noStrike" spc="-1">
              <a:latin typeface="Arial"/>
            </a:endParaRPr>
          </a:p>
        </p:txBody>
      </p:sp>
      <p:pic>
        <p:nvPicPr>
          <p:cNvPr id="92" name="Picture 4"/>
          <p:cNvPicPr/>
          <p:nvPr/>
        </p:nvPicPr>
        <p:blipFill>
          <a:blip r:embed="rId3"/>
          <a:stretch/>
        </p:blipFill>
        <p:spPr>
          <a:xfrm>
            <a:off x="1475640" y="4035240"/>
            <a:ext cx="5904000" cy="2417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347400" y="274680"/>
            <a:ext cx="839952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3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Rádio Definido por Software</a:t>
            </a:r>
            <a:endParaRPr lang="pt-BR" sz="3800" b="0" strike="noStrike" spc="-1"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179640" y="1845000"/>
            <a:ext cx="8962920" cy="4875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No SDR são calculados as amostras de um esquema de modulação; 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Na AM DSB-SC, por exemplo, são calculados os valores do sinal modulado </a:t>
            </a:r>
            <a:r>
              <a:rPr lang="pt-BR" sz="2600" b="0" i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lang="pt-BR" sz="2600" b="0" i="1" strike="noStrike" spc="-1" baseline="-25000" dirty="0" err="1">
                <a:solidFill>
                  <a:srgbClr val="000000"/>
                </a:solidFill>
                <a:latin typeface="Calibri"/>
                <a:ea typeface="DejaVu Sans"/>
              </a:rPr>
              <a:t>AM</a:t>
            </a:r>
            <a:r>
              <a:rPr lang="pt-BR" sz="2600" b="0" i="1" strike="noStrike" spc="-1" baseline="-25000" dirty="0">
                <a:solidFill>
                  <a:srgbClr val="000000"/>
                </a:solidFill>
                <a:latin typeface="Calibri"/>
                <a:ea typeface="DejaVu Sans"/>
              </a:rPr>
              <a:t> DSB-SC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 = 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lang="pt-BR" sz="2600" b="0" i="1" strike="noStrike" spc="-1" baseline="-25000" dirty="0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 cos(</a:t>
            </a:r>
            <a:r>
              <a:rPr lang="pt-BR" sz="2600" b="0" i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ω</a:t>
            </a:r>
            <a:r>
              <a:rPr lang="pt-BR" sz="2600" b="0" i="1" strike="noStrike" spc="-1" baseline="-25000" dirty="0" err="1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lang="pt-BR" sz="2600" b="0" i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t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 nos instantes 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= </a:t>
            </a:r>
            <a:r>
              <a:rPr lang="pt-BR" sz="2600" b="0" i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nT</a:t>
            </a:r>
            <a:r>
              <a:rPr lang="pt-BR" sz="2600" b="0" i="1" strike="noStrike" spc="-1" baseline="-25000" dirty="0" err="1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Com PAM ou PWM seguido por filtro passa-baixa, as amostras são convertidas para o sinal analógico correspondente e em seguida transmitido pelo canal;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É necessário respeitar a frequência de </a:t>
            </a:r>
            <a:r>
              <a:rPr lang="pt-BR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Nyquist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 </a:t>
            </a:r>
            <a:r>
              <a:rPr lang="pt-BR" sz="2600" b="0" i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</a:t>
            </a:r>
            <a:r>
              <a:rPr lang="pt-BR" sz="2600" b="0" i="1" strike="noStrike" spc="-1" baseline="-25000" dirty="0" err="1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&gt; 2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</a:t>
            </a:r>
            <a:r>
              <a:rPr lang="pt-BR" sz="2600" b="0" i="1" strike="noStrike" spc="-1" baseline="-25000" dirty="0">
                <a:solidFill>
                  <a:srgbClr val="000000"/>
                </a:solidFill>
                <a:latin typeface="Calibri"/>
                <a:ea typeface="DejaVu Sans"/>
              </a:rPr>
              <a:t>max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</p:txBody>
      </p:sp>
      <p:sp>
        <p:nvSpPr>
          <p:cNvPr id="95" name="CustomShape 3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0AB619D4-778F-4521-BE2A-CC9E60EA7038}" type="slidenum">
              <a:rPr lang="pt-BR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3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347400" y="274680"/>
            <a:ext cx="839952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3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Rádio Definido por Software</a:t>
            </a:r>
            <a:endParaRPr lang="pt-BR" sz="3800" b="0" strike="noStrike" spc="-1"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179640" y="1701000"/>
            <a:ext cx="8962920" cy="4875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/>
              <a:buChar char=""/>
            </a:pPr>
            <a:r>
              <a:rPr lang="pt-BR" sz="26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Geração do PWM para onda senoidal usando comparação com a onda dente de serra:</a:t>
            </a: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Symbol"/>
              <a:buChar char=""/>
            </a:pPr>
            <a:r>
              <a:rPr lang="pt-BR" sz="2600" b="0" strike="noStrike" spc="-1">
                <a:solidFill>
                  <a:srgbClr val="000000"/>
                </a:solidFill>
                <a:latin typeface="Calibri"/>
                <a:ea typeface="DejaVu Sans"/>
              </a:rPr>
              <a:t>A aplicação de um FPB sobre o sinal PWM retorna ao sinal original.</a:t>
            </a: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</p:txBody>
      </p:sp>
      <p:sp>
        <p:nvSpPr>
          <p:cNvPr id="98" name="CustomShape 3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E4BD164-3610-4108-A342-EEA6A4EEFC7E}" type="slidenum">
              <a:rPr lang="pt-BR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4</a:t>
            </a:fld>
            <a:endParaRPr lang="pt-BR" sz="1200" b="0" strike="noStrike" spc="-1">
              <a:latin typeface="Arial"/>
            </a:endParaRPr>
          </a:p>
        </p:txBody>
      </p:sp>
      <p:pic>
        <p:nvPicPr>
          <p:cNvPr id="99" name="Imagem 98"/>
          <p:cNvPicPr/>
          <p:nvPr/>
        </p:nvPicPr>
        <p:blipFill>
          <a:blip r:embed="rId3"/>
          <a:stretch/>
        </p:blipFill>
        <p:spPr>
          <a:xfrm>
            <a:off x="2425427" y="2509236"/>
            <a:ext cx="3979800" cy="2962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347400" y="274680"/>
            <a:ext cx="839952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3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Rádio Definido por Software</a:t>
            </a:r>
            <a:endParaRPr lang="pt-BR" sz="3800" b="0" strike="noStrike" spc="-1"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285840" y="1845000"/>
            <a:ext cx="8571240" cy="4447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>
                <a:solidFill>
                  <a:srgbClr val="000000"/>
                </a:solidFill>
                <a:latin typeface="Calibri"/>
                <a:ea typeface="DejaVu Sans"/>
              </a:rPr>
              <a:t>Uma técnica correlata ao SDR é o DDS (Direct Digital Synthesis);</a:t>
            </a: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>
                <a:solidFill>
                  <a:srgbClr val="000000"/>
                </a:solidFill>
                <a:latin typeface="Calibri"/>
                <a:ea typeface="DejaVu Sans"/>
              </a:rPr>
              <a:t>No DDS as amostras de uma forma de onda são representadas com PAM ou PWM e depois filtradas com FPB;</a:t>
            </a: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>
                <a:solidFill>
                  <a:srgbClr val="000000"/>
                </a:solidFill>
                <a:latin typeface="Calibri"/>
                <a:ea typeface="DejaVu Sans"/>
              </a:rPr>
              <a:t>O DDS pode ser aplicado em geradores de funções. </a:t>
            </a: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>
              <a:latin typeface="Arial"/>
            </a:endParaRPr>
          </a:p>
        </p:txBody>
      </p:sp>
      <p:sp>
        <p:nvSpPr>
          <p:cNvPr id="102" name="CustomShape 3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AD18B9BC-7030-4FA9-ABFD-AB6A54C5BCB2}" type="slidenum">
              <a:rPr lang="pt-BR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5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347400" y="274680"/>
            <a:ext cx="839952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3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Rádio Definido por Software</a:t>
            </a:r>
            <a:endParaRPr lang="pt-BR" sz="3800" b="0" strike="noStrike" spc="-1">
              <a:latin typeface="Arial"/>
            </a:endParaRPr>
          </a:p>
        </p:txBody>
      </p:sp>
      <p:sp>
        <p:nvSpPr>
          <p:cNvPr id="104" name="CustomShape 2"/>
          <p:cNvSpPr/>
          <p:nvPr/>
        </p:nvSpPr>
        <p:spPr>
          <a:xfrm>
            <a:off x="179640" y="1520640"/>
            <a:ext cx="8962920" cy="5091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Projeto PBLE04: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pt-BR" sz="16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Modular e </a:t>
            </a:r>
            <a:r>
              <a:rPr lang="pt-BR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Demodular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um sinal BASK (</a:t>
            </a:r>
            <a:r>
              <a:rPr lang="pt-BR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fc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= </a:t>
            </a:r>
            <a:r>
              <a:rPr lang="pt-BR" sz="2600" spc="-1" dirty="0">
                <a:solidFill>
                  <a:srgbClr val="000000"/>
                </a:solidFill>
                <a:latin typeface="Calibri"/>
                <a:ea typeface="DejaVu Sans"/>
              </a:rPr>
              <a:t>100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kHz) com SDR;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pt-BR" sz="16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O processamento do SDR deve ser realizado em FPGA;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pt-BR" sz="16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O filtros podem ser realizados com os circuitos abaixo:</a:t>
            </a:r>
            <a:endParaRPr lang="pt-BR" sz="2600" b="0" strike="noStrike" spc="-1" dirty="0">
              <a:latin typeface="Arial"/>
            </a:endParaRPr>
          </a:p>
        </p:txBody>
      </p:sp>
      <p:sp>
        <p:nvSpPr>
          <p:cNvPr id="105" name="CustomShape 3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CEDA60CB-1AEF-4A9A-9C22-EE83C98A71E9}" type="slidenum">
              <a:rPr lang="pt-BR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6</a:t>
            </a:fld>
            <a:endParaRPr lang="pt-BR" sz="1200" b="0" strike="noStrike" spc="-1"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2B5F79C-92DD-4382-87BD-45616E095E8F}"/>
                  </a:ext>
                </a:extLst>
              </p:cNvPr>
              <p:cNvSpPr txBox="1"/>
              <p:nvPr/>
            </p:nvSpPr>
            <p:spPr>
              <a:xfrm>
                <a:off x="4007832" y="4526786"/>
                <a:ext cx="4572000" cy="6612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2B5F79C-92DD-4382-87BD-45616E095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832" y="4526786"/>
                <a:ext cx="4572000" cy="661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E76326F-8E08-4ED0-99A4-3651E224B54D}"/>
                  </a:ext>
                </a:extLst>
              </p:cNvPr>
              <p:cNvSpPr txBox="1"/>
              <p:nvPr/>
            </p:nvSpPr>
            <p:spPr>
              <a:xfrm>
                <a:off x="4007832" y="5504769"/>
                <a:ext cx="4572000" cy="10462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skw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𝐿𝐶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E76326F-8E08-4ED0-99A4-3651E224B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832" y="5504769"/>
                <a:ext cx="4572000" cy="10462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5E45DBDA-0C1F-418C-9B2C-8736F3F6EBB3}"/>
              </a:ext>
            </a:extLst>
          </p:cNvPr>
          <p:cNvSpPr txBox="1"/>
          <p:nvPr/>
        </p:nvSpPr>
        <p:spPr>
          <a:xfrm>
            <a:off x="307622" y="4796263"/>
            <a:ext cx="8758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FPB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FPF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403F0DC-5DAD-431D-80BA-B62E097B5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146" y="4518838"/>
            <a:ext cx="3447854" cy="20321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347400" y="274680"/>
            <a:ext cx="839952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3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Rádio Definido por Software</a:t>
            </a:r>
            <a:endParaRPr lang="pt-BR" sz="3800" b="0" strike="noStrike" spc="-1">
              <a:latin typeface="Arial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179640" y="1556640"/>
            <a:ext cx="8567640" cy="516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Projeto PBLE04: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pt-BR" sz="26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Etapas:</a:t>
            </a: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endParaRPr lang="pt-BR" sz="2600" b="0" strike="noStrike" spc="-1" dirty="0">
              <a:latin typeface="Arial"/>
            </a:endParaRPr>
          </a:p>
          <a:p>
            <a:pPr marL="14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1 - Gerar o sinal modulante 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 = 3cos(2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π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t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) + 2cos(4π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t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+ π/6) por DDS com FPB de 1ª ordem. Prazo: 29/08/23. (15 pontos)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pt-BR" sz="2600" b="0" strike="noStrike" spc="-1" dirty="0">
              <a:latin typeface="Arial"/>
            </a:endParaRPr>
          </a:p>
          <a:p>
            <a:pPr marL="14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2 - Conversão analógico para digital de 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m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(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t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) com o MCP3001 colocando os bits sequencialmente na FPGA. Considerar 8 bits por amostra e </a:t>
            </a:r>
            <a:r>
              <a:rPr lang="pt-BR" sz="2600" b="0" i="1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f</a:t>
            </a:r>
            <a:r>
              <a:rPr lang="pt-BR" sz="2600" b="0" i="1" strike="noStrike" spc="-1" baseline="-33000" dirty="0" err="1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lang="pt-BR" sz="2600" b="0" strike="noStrike" spc="-1">
                <a:solidFill>
                  <a:srgbClr val="000000"/>
                </a:solidFill>
                <a:latin typeface="Calibri"/>
                <a:ea typeface="Calibri"/>
              </a:rPr>
              <a:t>= 200Hz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. Prazo: </a:t>
            </a:r>
            <a:r>
              <a:rPr lang="pt-BR" sz="2600" spc="-1" dirty="0">
                <a:solidFill>
                  <a:srgbClr val="000000"/>
                </a:solidFill>
                <a:latin typeface="Calibri"/>
                <a:ea typeface="Calibri"/>
              </a:rPr>
              <a:t>12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/09/23. (15 pontos)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</p:txBody>
      </p:sp>
      <p:sp>
        <p:nvSpPr>
          <p:cNvPr id="111" name="CustomShape 3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62344DE-E303-4255-8FD4-EAC0668CC904}" type="slidenum">
              <a:rPr lang="pt-BR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7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347400" y="274680"/>
            <a:ext cx="839952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3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Rádio Definido por Software</a:t>
            </a:r>
            <a:endParaRPr lang="pt-BR" sz="3800" b="0" strike="noStrike" spc="-1"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179640" y="1628640"/>
            <a:ext cx="8783640" cy="5091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Projeto PBLE04: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pt-BR" sz="26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Etapas: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r>
              <a:rPr lang="pt-BR" sz="2600" spc="-1" dirty="0">
                <a:solidFill>
                  <a:srgbClr val="000000"/>
                </a:solidFill>
                <a:latin typeface="Calibri"/>
                <a:ea typeface="DejaVu Sans"/>
              </a:rPr>
              <a:t>3 - 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Obter a representação PWM do sinal BASK com a FPGA e obter o espectro no osciloscópio. Prazo: 26/09/23. (15 pontos)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r>
              <a:rPr lang="pt-BR" sz="2600" spc="-1" dirty="0">
                <a:solidFill>
                  <a:srgbClr val="000000"/>
                </a:solidFill>
                <a:latin typeface="Calibri"/>
                <a:ea typeface="DejaVu Sans"/>
              </a:rPr>
              <a:t>4 - 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Obter o sinal BASK usando um FPF (2ª Ordem) sobre o sinal da etapa 4. Obter o espectro deste sinal BASK no osciloscópio. Prazo: 03/10/23. (10 pontos)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</p:txBody>
      </p:sp>
      <p:sp>
        <p:nvSpPr>
          <p:cNvPr id="114" name="CustomShape 3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915813C-42DA-4DFD-A646-F017BCA0481B}" type="slidenum">
              <a:rPr lang="pt-BR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8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347400" y="274680"/>
            <a:ext cx="839952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3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Rádio Definido por Software</a:t>
            </a:r>
            <a:endParaRPr lang="pt-BR" sz="3800" b="0" strike="noStrike" spc="-1"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179640" y="1628640"/>
            <a:ext cx="8783640" cy="5091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Projeto PBLE04: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pt-BR" sz="26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Etapas: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5 - Elaborar o circuito detector de envelope para </a:t>
            </a:r>
            <a:r>
              <a:rPr lang="pt-BR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demodular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o sinal BASK. Prazo: </a:t>
            </a:r>
            <a:r>
              <a:rPr lang="pt-BR" sz="2600" spc="-1" dirty="0">
                <a:solidFill>
                  <a:srgbClr val="000000"/>
                </a:solidFill>
                <a:latin typeface="Calibri"/>
                <a:ea typeface="DejaVu Sans"/>
              </a:rPr>
              <a:t>17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/10/23. (</a:t>
            </a:r>
            <a:r>
              <a:rPr lang="pt-BR" sz="2600" spc="-1" dirty="0">
                <a:solidFill>
                  <a:srgbClr val="000000"/>
                </a:solidFill>
                <a:latin typeface="Calibri"/>
                <a:ea typeface="DejaVu Sans"/>
              </a:rPr>
              <a:t>15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pontos)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r>
              <a:rPr lang="pt-BR" sz="2600" spc="-1" dirty="0">
                <a:solidFill>
                  <a:srgbClr val="000000"/>
                </a:solidFill>
                <a:latin typeface="Calibri"/>
                <a:ea typeface="DejaVu Sans"/>
              </a:rPr>
              <a:t>6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- Realizar a conversão digital para analógico dos bits obtidos do sinal BASK usando PWM e FPB de 1ª ordem. Prazo: </a:t>
            </a:r>
            <a:r>
              <a:rPr lang="pt-BR" sz="2600" spc="-1" dirty="0">
                <a:solidFill>
                  <a:srgbClr val="000000"/>
                </a:solidFill>
                <a:latin typeface="Calibri"/>
                <a:ea typeface="DejaVu Sans"/>
              </a:rPr>
              <a:t>07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/11/23. (15 pontos)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</p:txBody>
      </p:sp>
      <p:sp>
        <p:nvSpPr>
          <p:cNvPr id="117" name="CustomShape 3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C05A3D06-141C-4A89-813B-A53E43A4AE55}" type="slidenum">
              <a:rPr lang="pt-BR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9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347400" y="274680"/>
            <a:ext cx="839952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3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Rádio Definido por Software</a:t>
            </a:r>
            <a:endParaRPr lang="pt-BR" sz="3800" b="0" strike="noStrike" spc="-1"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179640" y="1628640"/>
            <a:ext cx="8783640" cy="5091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Projeto PBLE04: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pt-BR" sz="26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Etapas: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r>
              <a:rPr lang="pt-BR" sz="2600" spc="-1" dirty="0">
                <a:solidFill>
                  <a:srgbClr val="000000"/>
                </a:solidFill>
                <a:latin typeface="Calibri"/>
                <a:ea typeface="DejaVu Sans"/>
              </a:rPr>
              <a:t>7 - 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Refazer as etapas 3 e 4 considerando 4-ASK. Prazo: </a:t>
            </a:r>
            <a:r>
              <a:rPr lang="pt-BR" sz="2600" spc="-1" dirty="0">
                <a:solidFill>
                  <a:srgbClr val="000000"/>
                </a:solidFill>
                <a:latin typeface="Calibri"/>
                <a:ea typeface="DejaVu Sans"/>
              </a:rPr>
              <a:t>28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/11/23. (15 pontos) </a:t>
            </a: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457200" indent="-457200">
              <a:lnSpc>
                <a:spcPct val="100000"/>
              </a:lnSpc>
              <a:spcBef>
                <a:spcPts val="519"/>
              </a:spcBef>
              <a:buFont typeface="Wingdings" panose="05000000000000000000" pitchFamily="2" charset="2"/>
              <a:buChar char="§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Entrega do relatório final descrevendo todas as atividades realizadas: </a:t>
            </a:r>
            <a:r>
              <a:rPr lang="pt-BR" sz="2600" spc="-1" dirty="0">
                <a:solidFill>
                  <a:srgbClr val="000000"/>
                </a:solidFill>
                <a:latin typeface="Calibri"/>
                <a:ea typeface="DejaVu Sans"/>
              </a:rPr>
              <a:t>12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/12/23.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</p:txBody>
      </p:sp>
      <p:sp>
        <p:nvSpPr>
          <p:cNvPr id="114" name="CustomShape 3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915813C-42DA-4DFD-A646-F017BCA0481B}" type="slidenum">
              <a:rPr lang="pt-BR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10</a:t>
            </a:fld>
            <a:endParaRPr lang="pt-BR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132472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347400" y="274680"/>
            <a:ext cx="839952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3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Rádio Definido por Software</a:t>
            </a:r>
            <a:endParaRPr lang="pt-BR" sz="3800" b="0" strike="noStrike" spc="-1"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A0E63534-7A30-422D-B5DB-BD1ED24FF851}" type="slidenum">
              <a:rPr lang="pt-BR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11</a:t>
            </a:fld>
            <a:endParaRPr lang="pt-BR" sz="1200" b="0" strike="noStrike" spc="-1">
              <a:latin typeface="Arial"/>
            </a:endParaRPr>
          </a:p>
        </p:txBody>
      </p:sp>
      <p:pic>
        <p:nvPicPr>
          <p:cNvPr id="120" name="Picture 4"/>
          <p:cNvPicPr/>
          <p:nvPr/>
        </p:nvPicPr>
        <p:blipFill>
          <a:blip r:embed="rId3"/>
          <a:stretch/>
        </p:blipFill>
        <p:spPr>
          <a:xfrm>
            <a:off x="755640" y="3283002"/>
            <a:ext cx="4399200" cy="998640"/>
          </a:xfrm>
          <a:prstGeom prst="rect">
            <a:avLst/>
          </a:prstGeom>
          <a:ln>
            <a:noFill/>
          </a:ln>
        </p:spPr>
      </p:pic>
      <p:sp>
        <p:nvSpPr>
          <p:cNvPr id="121" name="CustomShape 3"/>
          <p:cNvSpPr/>
          <p:nvPr/>
        </p:nvSpPr>
        <p:spPr>
          <a:xfrm>
            <a:off x="5353920" y="3357000"/>
            <a:ext cx="303336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Quando o contador reinicia deve-se atualizar a amostra utilizando a próxima.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CF02D516-F057-404C-A59E-E35852B5C35F}"/>
              </a:ext>
            </a:extLst>
          </p:cNvPr>
          <p:cNvSpPr/>
          <p:nvPr/>
        </p:nvSpPr>
        <p:spPr>
          <a:xfrm>
            <a:off x="144000" y="1485000"/>
            <a:ext cx="8962920" cy="5299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Projeto PBLE04: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pt-BR" sz="26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50000"/>
              <a:buFont typeface="Wingdings" charset="2"/>
              <a:buChar char="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O sinal PWM pode ser gerado na FPGA comparando a amostra e o valor em um contador (que incrementa com o </a:t>
            </a:r>
            <a:r>
              <a:rPr lang="pt-BR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clock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):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pt-BR" sz="26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 frequência de amostragem se relaciona com a frequência do </a:t>
            </a:r>
            <a:r>
              <a:rPr lang="pt-BR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clock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 </a:t>
            </a:r>
            <a:r>
              <a:rPr lang="pt-BR" sz="2600" b="0" i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</a:t>
            </a:r>
            <a:r>
              <a:rPr lang="pt-BR" sz="2600" b="0" i="1" strike="noStrike" spc="-1" baseline="-25000" dirty="0" err="1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= </a:t>
            </a:r>
            <a:r>
              <a:rPr lang="pt-BR" sz="2600" b="0" i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</a:t>
            </a:r>
            <a:r>
              <a:rPr lang="pt-BR" sz="2600" b="0" i="1" strike="noStrike" spc="-1" baseline="-33000" dirty="0" err="1">
                <a:solidFill>
                  <a:srgbClr val="000000"/>
                </a:solidFill>
                <a:latin typeface="Calibri"/>
                <a:ea typeface="DejaVu Sans"/>
              </a:rPr>
              <a:t>CLK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/(</a:t>
            </a:r>
            <a:r>
              <a:rPr lang="pt-BR" sz="2600" b="0" i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lang="pt-BR" sz="2600" b="0" i="1" strike="noStrike" spc="-1" baseline="-33000" dirty="0" err="1">
                <a:solidFill>
                  <a:srgbClr val="000000"/>
                </a:solidFill>
                <a:latin typeface="Calibri"/>
                <a:ea typeface="DejaVu Sans"/>
              </a:rPr>
              <a:t>max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+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1)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com </a:t>
            </a:r>
            <a:r>
              <a:rPr lang="pt-BR" sz="2600" b="0" i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lang="pt-BR" sz="2600" b="0" i="1" strike="noStrike" spc="-1" baseline="-33000" dirty="0" err="1">
                <a:solidFill>
                  <a:srgbClr val="000000"/>
                </a:solidFill>
                <a:latin typeface="Calibri"/>
                <a:ea typeface="DejaVu Sans"/>
              </a:rPr>
              <a:t>max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o valor máximo do contador;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SzPct val="50000"/>
              <a:buFont typeface="Wingdings" charset="2"/>
              <a:buChar char="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O </a:t>
            </a:r>
            <a:r>
              <a:rPr lang="pt-BR" sz="2600" b="0" i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lang="pt-BR" sz="2600" b="0" i="1" strike="noStrike" spc="-1" baseline="-33000" dirty="0" err="1">
                <a:solidFill>
                  <a:srgbClr val="000000"/>
                </a:solidFill>
                <a:latin typeface="Calibri"/>
                <a:ea typeface="DejaVu Sans"/>
              </a:rPr>
              <a:t>max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também define o número máximo de bits de quantização 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pois deve-se garantir que </a:t>
            </a:r>
            <a:r>
              <a:rPr lang="pt-BR" sz="2600" b="0" i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lang="pt-BR" sz="2600" b="0" i="1" strike="noStrike" spc="-1" baseline="-33000" dirty="0" err="1">
                <a:solidFill>
                  <a:srgbClr val="000000"/>
                </a:solidFill>
                <a:latin typeface="Calibri"/>
                <a:ea typeface="DejaVu Sans"/>
              </a:rPr>
              <a:t>max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&gt; 2</a:t>
            </a:r>
            <a:r>
              <a:rPr lang="pt-BR" sz="2600" b="0" i="1" strike="noStrike" spc="-1" baseline="33000" dirty="0">
                <a:solidFill>
                  <a:srgbClr val="000000"/>
                </a:solidFill>
                <a:latin typeface="Calibri"/>
                <a:ea typeface="DejaVu Sans"/>
              </a:rPr>
              <a:t>n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347400" y="274680"/>
            <a:ext cx="839952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3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Rádio Definido por Software</a:t>
            </a:r>
            <a:endParaRPr lang="pt-BR" sz="3800" b="0" strike="noStrike" spc="-1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179640" y="1628640"/>
            <a:ext cx="8783640" cy="5091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Projeto PBLE04: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pt-BR" sz="26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Para o cálculo de funções trigonométricas na FPGA pode-se empregar uma tabela relacionando 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e cos(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 com 0 &lt; </a:t>
            </a:r>
            <a:r>
              <a:rPr lang="pt-BR" sz="2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&lt; 2π. A tabela é armazenada na memória do FPGA;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O filtro passa baixa pode ser definido com a função </a:t>
            </a:r>
            <a:r>
              <a:rPr lang="pt-BR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analpf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() do </a:t>
            </a:r>
            <a:r>
              <a:rPr lang="pt-BR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Scilab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Os resistores e capacitores disponíveis são os valores comerciais. Indutores disponíveis: 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18µH e 1mH.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</p:txBody>
      </p:sp>
      <p:sp>
        <p:nvSpPr>
          <p:cNvPr id="125" name="CustomShape 3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74DC7-7FB9-446D-8616-B0B82BFF6081}" type="slidenum">
              <a:rPr lang="pt-BR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12</a:t>
            </a:fld>
            <a:endParaRPr lang="pt-BR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347400" y="274680"/>
            <a:ext cx="839952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3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Rádio Definido por Software</a:t>
            </a:r>
            <a:endParaRPr lang="pt-BR" sz="3800" b="0" strike="noStrike" spc="-1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154926" y="1416240"/>
            <a:ext cx="8641674" cy="5303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Projeto PBLE04:</a:t>
            </a: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pt-BR" sz="17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Para a geração da portadora pode-se empregar um </a:t>
            </a:r>
            <a:r>
              <a:rPr lang="pt-BR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clock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com a frequência da portadora </a:t>
            </a:r>
            <a:r>
              <a:rPr lang="pt-BR" sz="2600" b="0" i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</a:t>
            </a:r>
            <a:r>
              <a:rPr lang="pt-BR" sz="2600" b="0" i="1" strike="noStrike" spc="-1" baseline="-25000" dirty="0" err="1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seguido por filtro passa-faixa centrado em </a:t>
            </a:r>
            <a:r>
              <a:rPr lang="pt-BR" sz="2600" b="0" i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</a:t>
            </a:r>
            <a:r>
              <a:rPr lang="pt-BR" sz="2600" b="0" i="1" strike="noStrike" spc="-1" baseline="-25000" dirty="0" err="1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lang="pt-BR" sz="2600" spc="-1" dirty="0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endParaRPr lang="pt-BR" sz="26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 variação do </a:t>
            </a:r>
            <a:r>
              <a:rPr lang="pt-BR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duty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pt-BR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cicle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do </a:t>
            </a:r>
            <a:r>
              <a:rPr lang="pt-BR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clock</a:t>
            </a:r>
            <a:r>
              <a:rPr lang="pt-BR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permite controlar a </a:t>
            </a:r>
            <a:r>
              <a:rPr lang="pt-BR" sz="2600" spc="-1" dirty="0">
                <a:solidFill>
                  <a:srgbClr val="000000"/>
                </a:solidFill>
                <a:latin typeface="Calibri"/>
                <a:ea typeface="DejaVu Sans"/>
              </a:rPr>
              <a:t>amplitude da portadora produzida após a filtragem no filtro passa-faixa e essa abordagem pode ser explorada para obter a modulação 4-ASK.</a:t>
            </a:r>
            <a:endParaRPr lang="pt-BR" sz="26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343080" indent="-3416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19"/>
              </a:spcBef>
            </a:pPr>
            <a:endParaRPr lang="pt-BR" sz="2600" b="0" strike="noStrike" spc="-1" dirty="0">
              <a:latin typeface="Arial"/>
            </a:endParaRPr>
          </a:p>
        </p:txBody>
      </p:sp>
      <p:sp>
        <p:nvSpPr>
          <p:cNvPr id="125" name="CustomShape 3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74DC7-7FB9-446D-8616-B0B82BFF6081}" type="slidenum">
              <a:rPr lang="pt-BR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13</a:t>
            </a:fld>
            <a:endParaRPr lang="pt-BR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9207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8933</TotalTime>
  <Words>792</Words>
  <Application>Microsoft Office PowerPoint</Application>
  <PresentationFormat>Apresentação na tela (4:3)</PresentationFormat>
  <Paragraphs>152</Paragraphs>
  <Slides>13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Modulação em Ângulo</dc:title>
  <dc:subject/>
  <dc:creator>Mateus</dc:creator>
  <dc:description/>
  <cp:lastModifiedBy>Mateus Junqueira</cp:lastModifiedBy>
  <cp:revision>856</cp:revision>
  <dcterms:created xsi:type="dcterms:W3CDTF">2016-05-08T17:21:49Z</dcterms:created>
  <dcterms:modified xsi:type="dcterms:W3CDTF">2023-08-05T00:05:39Z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7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